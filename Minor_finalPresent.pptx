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71" r:id="rId9"/>
    <p:sldId id="272" r:id="rId10"/>
    <p:sldId id="260" r:id="rId11"/>
    <p:sldId id="261" r:id="rId12"/>
    <p:sldId id="265" r:id="rId13"/>
    <p:sldId id="266" r:id="rId14"/>
    <p:sldId id="269" r:id="rId15"/>
    <p:sldId id="270" r:id="rId16"/>
    <p:sldId id="267" r:id="rId17"/>
    <p:sldId id="268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E43E11-1B81-4E00-86FA-1FBB0084C789}" v="33" dt="2023-07-03T05:17:11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061" autoAdjust="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537DC-85A9-4FAD-ADA3-CB4F1B1341F2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AD4ED-0E47-48E2-82F3-F73B6E460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5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7447-A18A-28EB-382C-9A4441778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9B3F5-B394-D861-73B6-BD7F821E1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3BF48-DF93-0C30-F9C7-200BB24A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D3A1-CEBE-4BF6-A4C5-26AC0A5F3A05}" type="datetime1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025B7-BB68-F80D-9EDD-8E98B4C4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59501-4558-8DAA-16EB-69E28F72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05E5-24A4-25B6-2F1E-6DB6C6E5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9E5E2-5605-263C-8B1D-95959B114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A500-B8FC-00DC-6F01-1857A7A1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34EB5-BE1A-4F3A-83E6-1001DDECD16C}" type="datetime1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35A12-4C21-45B4-B1F7-D4001901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61D8B-562E-6214-73A4-01EE2849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2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13B7C-CFF5-1337-A090-8F728AC9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411F7-25BE-7F5E-E453-ACCBC47E3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5ED91-A180-69F8-21AA-5FDABE02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5127-4923-4269-91B4-286D351662A2}" type="datetime1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443D-5B8F-8149-27FB-5DBB593A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743F9-17BD-CA6B-B413-40F34BEF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6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971D-5181-10EE-4C1C-6FF37B2A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3BD91-5504-833E-2757-82EECE3CB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DDBFA-B719-A183-DD34-51A22DEC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C4937-16C4-33BB-6951-CFAAD033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7E05-FA78-4F0E-B864-F28CB380257A}" type="datetime1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FFF9B-5628-7895-4BF0-5E93020DB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EEAC8-815F-2906-1D72-E3CC14C6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6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0B139-BF15-1412-B090-D3C40DA0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FFACD-84E4-CD3D-1F1B-F2480A703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2644A-3FBC-AD34-E1BD-74EC63739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3F573-7B96-6E93-BF71-CEE5423CA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D8407-863F-ADF4-DF88-4AA7B49AF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C13BC-040E-97E7-DD7C-8A5639BE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E0EB1-C0E1-4529-BDA6-0D6C3B6EB176}" type="datetime1">
              <a:rPr lang="en-US" smtClean="0"/>
              <a:t>7/4/2023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0F14A-AF06-1920-3FA6-B0F39C3F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6F37D-A43F-EED3-2979-CD705942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50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D020-AAF2-D21A-BCE5-604D3CA1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9C287-0EC1-7CC2-EE01-4D4035F5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CFF7-7C4A-4CEF-8781-B44B17CBEB19}" type="datetime1">
              <a:rPr lang="en-US" smtClean="0"/>
              <a:t>7/4/2023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C6543-1D01-9CCE-D259-3D3C4CB80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4E929-964D-AC39-1A1D-D273E130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4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187BD-5531-67C4-8BE6-02BEE871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617-D19E-49E4-B0D9-8B282EF12BCF}" type="datetime1">
              <a:rPr lang="en-US" smtClean="0"/>
              <a:t>7/4/2023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CFC70-6376-AA95-E731-EC6795EFF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4F364-5FDD-E8C0-47BF-69031F43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05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FA4B-28F8-AAC7-6AD9-02010A61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9CA23-ACC5-90B4-60FA-6D3A1610C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B62A2-2258-7555-0B50-A10E9CF49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0741E-A18E-236E-C3DD-D20E200D4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36DF5-D134-474F-AE98-414D8C9ABBD2}" type="datetime1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250F7-4A8B-0FC8-2C99-73FE1546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AA43D-3B6F-93CD-DDA8-1000BC56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8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5070-9959-2DBC-2646-4FADFDC61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1B6B5E-7DB9-9EFE-12CC-4199EFA11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AA31E-393C-E5C3-0328-3EA938FC5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67120-C13F-26B5-F1EE-28711E4B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0D96-F39D-41F2-A73F-E14400D4D7D3}" type="datetime1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25785-1E4E-B792-EE9D-E9F1EDE7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8C996-016A-45AA-D8DB-00A05139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3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134E-64A3-7546-8BAD-86E23B4C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D84A9-0835-18C5-7957-825B23EA0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B0F11-6863-D053-0110-4AB55A27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80208-7B12-44AA-B89A-FE7068634BF4}" type="datetime1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F323-24B6-9157-FA40-319EEF21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FE56F-5D84-D96A-E3D7-BEF2BCD8D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1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1E856-336D-958E-36D4-BAD7D8D0C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0D6B6-91FC-EA67-0234-6A8D465E6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E7B8-8A67-719C-4541-97A96047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1DDE-0D80-4B36-9C48-AA4D4F05340B}" type="datetime1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98FA4-8386-BC32-9094-4888DC35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7AC28-5B97-C9CE-1601-76AF7E17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5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164D7-DEF2-592B-E63B-FBC543810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2EC96-B4AA-D321-1A24-0BB665BCD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429A4-0634-5ADB-50CD-DE46B023D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B0B3B-CD55-43BB-B622-EC4C7CB3F9D2}" type="datetime1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82F1-815E-B094-DA2C-82237DE1D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1491-A14D-BE97-AFE0-E39FBE729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ED4E2-E95B-43A5-8601-9ECAED672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2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9D72E0-16A8-4984-07F9-12E58EA0D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2" y="257358"/>
            <a:ext cx="9144793" cy="3648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40A4B2-9374-E915-2B0E-B054325F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260" y="3860276"/>
            <a:ext cx="6411474" cy="14672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9F60F8-4A9C-EDCF-0942-8615F00B637C}"/>
              </a:ext>
            </a:extLst>
          </p:cNvPr>
          <p:cNvSpPr txBox="1"/>
          <p:nvPr/>
        </p:nvSpPr>
        <p:spPr>
          <a:xfrm>
            <a:off x="1789042" y="885934"/>
            <a:ext cx="86139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Analysis and Visualization of Global Store Sales Using Power Bi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C8BC2-91E6-37B4-D86B-E07702BE94F2}"/>
              </a:ext>
            </a:extLst>
          </p:cNvPr>
          <p:cNvSpPr txBox="1"/>
          <p:nvPr/>
        </p:nvSpPr>
        <p:spPr>
          <a:xfrm>
            <a:off x="1679861" y="3217535"/>
            <a:ext cx="86139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By:-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AKSHAY SARKAR (201900183)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37AB30-45F3-1229-E9BB-3C7B2EDCA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578" y="1839817"/>
            <a:ext cx="1798476" cy="13248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593F49-1B32-3B2D-41F7-B7463978E7A1}"/>
              </a:ext>
            </a:extLst>
          </p:cNvPr>
          <p:cNvSpPr txBox="1"/>
          <p:nvPr/>
        </p:nvSpPr>
        <p:spPr>
          <a:xfrm>
            <a:off x="3591634" y="151650"/>
            <a:ext cx="5254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Specialization Project Presentation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EEDBB-564B-8F46-C0E7-8144413E0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819" y="5358719"/>
            <a:ext cx="5954017" cy="115752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90D6C1-B373-866D-8C60-113C2EA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0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80DC27D-BAC0-B651-2506-0E3C08F6C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694494"/>
              </p:ext>
            </p:extLst>
          </p:nvPr>
        </p:nvGraphicFramePr>
        <p:xfrm>
          <a:off x="2159890" y="519303"/>
          <a:ext cx="7606749" cy="61212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8313">
                  <a:extLst>
                    <a:ext uri="{9D8B030D-6E8A-4147-A177-3AD203B41FA5}">
                      <a16:colId xmlns:a16="http://schemas.microsoft.com/office/drawing/2014/main" val="3224012338"/>
                    </a:ext>
                  </a:extLst>
                </a:gridCol>
                <a:gridCol w="3935896">
                  <a:extLst>
                    <a:ext uri="{9D8B030D-6E8A-4147-A177-3AD203B41FA5}">
                      <a16:colId xmlns:a16="http://schemas.microsoft.com/office/drawing/2014/main" val="4291113680"/>
                    </a:ext>
                  </a:extLst>
                </a:gridCol>
                <a:gridCol w="1762540">
                  <a:extLst>
                    <a:ext uri="{9D8B030D-6E8A-4147-A177-3AD203B41FA5}">
                      <a16:colId xmlns:a16="http://schemas.microsoft.com/office/drawing/2014/main" val="3971021127"/>
                    </a:ext>
                  </a:extLst>
                </a:gridCol>
              </a:tblGrid>
              <a:tr h="4526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874503"/>
                  </a:ext>
                </a:extLst>
              </a:tr>
              <a:tr h="5792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004642"/>
                  </a:ext>
                </a:extLst>
              </a:tr>
              <a:tr h="4015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856453"/>
                  </a:ext>
                </a:extLst>
              </a:tr>
              <a:tr h="491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476221"/>
                  </a:ext>
                </a:extLst>
              </a:tr>
              <a:tr h="4913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23457"/>
                  </a:ext>
                </a:extLst>
              </a:tr>
              <a:tr h="5186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259039"/>
                  </a:ext>
                </a:extLst>
              </a:tr>
              <a:tr h="5049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 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152615"/>
                  </a:ext>
                </a:extLst>
              </a:tr>
              <a:tr h="4640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94288"/>
                  </a:ext>
                </a:extLst>
              </a:tr>
              <a:tr h="4434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078015"/>
                  </a:ext>
                </a:extLst>
              </a:tr>
              <a:tr h="3978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878552"/>
                  </a:ext>
                </a:extLst>
              </a:tr>
              <a:tr h="5049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and Future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738733"/>
                  </a:ext>
                </a:extLst>
              </a:tr>
              <a:tr h="4260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Gantt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881634"/>
                  </a:ext>
                </a:extLst>
              </a:tr>
              <a:tr h="44518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25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A4991C6-47B9-53DC-5C6E-788C0FCBAD99}"/>
              </a:ext>
            </a:extLst>
          </p:cNvPr>
          <p:cNvSpPr txBox="1"/>
          <p:nvPr/>
        </p:nvSpPr>
        <p:spPr>
          <a:xfrm>
            <a:off x="4227530" y="-15823"/>
            <a:ext cx="5128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1AEF4-307F-FDF2-7248-4481A4F9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0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CA2DD1-D702-7177-6E54-F15793236A37}"/>
              </a:ext>
            </a:extLst>
          </p:cNvPr>
          <p:cNvSpPr txBox="1"/>
          <p:nvPr/>
        </p:nvSpPr>
        <p:spPr>
          <a:xfrm>
            <a:off x="5010893" y="322505"/>
            <a:ext cx="4346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BF1C5-531D-9AF3-53D6-AF2C3CC17FA9}"/>
              </a:ext>
            </a:extLst>
          </p:cNvPr>
          <p:cNvSpPr txBox="1"/>
          <p:nvPr/>
        </p:nvSpPr>
        <p:spPr>
          <a:xfrm>
            <a:off x="596347" y="1052762"/>
            <a:ext cx="10999305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is one of the most important subfield of the Data Science domain which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processing and performing analysis of existing datasets and find actionable insights from it.</a:t>
            </a:r>
          </a:p>
          <a:p>
            <a:pPr algn="just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field of 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directed towards solving problems for questions  we don’t know the answers to. </a:t>
            </a:r>
          </a:p>
          <a:p>
            <a:pPr algn="just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aims to present complex data in a visual format that is easy to understand, interpret, and gain insights from.</a:t>
            </a:r>
          </a:p>
          <a:p>
            <a:pPr algn="just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based on extracting meaningful insights from The Global Store Sales data which will help in taking desirable actions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OpenSan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F1851-82FB-71C9-4CCE-3986A424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44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6E271-7612-46EE-F35A-D09FF9BD80C0}"/>
              </a:ext>
            </a:extLst>
          </p:cNvPr>
          <p:cNvSpPr txBox="1"/>
          <p:nvPr/>
        </p:nvSpPr>
        <p:spPr>
          <a:xfrm>
            <a:off x="4790662" y="340176"/>
            <a:ext cx="4651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2119B-41E3-CF8A-C07D-A2C33A24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11F63-8523-7728-F26A-CAB446C21A1F}"/>
              </a:ext>
            </a:extLst>
          </p:cNvPr>
          <p:cNvSpPr txBox="1"/>
          <p:nvPr/>
        </p:nvSpPr>
        <p:spPr>
          <a:xfrm>
            <a:off x="1135626" y="1032387"/>
            <a:ext cx="1021817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analyze and visualize global store sales data to gain valuable insights and support decision-making processes.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an intuitive and user-friendly interface, enabling users to navigate the analysis tool, perform analysis tasks, and create visualizations without extensive technical expertise.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will facilitate collaboration among users by providing features for sharing analysis workflows, visualizations, and insights, promoting teamwork and knowledge sharing.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data analysis technique like descriptive analysis is applied to uncover patterns, trends, and relationships within the sales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58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5EDB24-8FFE-A3D4-BE88-EF66C971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65FB43-43AD-0C2A-4744-E2F8DC245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416028"/>
              </p:ext>
            </p:extLst>
          </p:nvPr>
        </p:nvGraphicFramePr>
        <p:xfrm>
          <a:off x="463657" y="340963"/>
          <a:ext cx="11264685" cy="63687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8654">
                  <a:extLst>
                    <a:ext uri="{9D8B030D-6E8A-4147-A177-3AD203B41FA5}">
                      <a16:colId xmlns:a16="http://schemas.microsoft.com/office/drawing/2014/main" val="1649266625"/>
                    </a:ext>
                  </a:extLst>
                </a:gridCol>
                <a:gridCol w="1515064">
                  <a:extLst>
                    <a:ext uri="{9D8B030D-6E8A-4147-A177-3AD203B41FA5}">
                      <a16:colId xmlns:a16="http://schemas.microsoft.com/office/drawing/2014/main" val="2908176830"/>
                    </a:ext>
                  </a:extLst>
                </a:gridCol>
                <a:gridCol w="3934412">
                  <a:extLst>
                    <a:ext uri="{9D8B030D-6E8A-4147-A177-3AD203B41FA5}">
                      <a16:colId xmlns:a16="http://schemas.microsoft.com/office/drawing/2014/main" val="2588716251"/>
                    </a:ext>
                  </a:extLst>
                </a:gridCol>
                <a:gridCol w="3216343">
                  <a:extLst>
                    <a:ext uri="{9D8B030D-6E8A-4147-A177-3AD203B41FA5}">
                      <a16:colId xmlns:a16="http://schemas.microsoft.com/office/drawing/2014/main" val="3292744677"/>
                    </a:ext>
                  </a:extLst>
                </a:gridCol>
                <a:gridCol w="1780212">
                  <a:extLst>
                    <a:ext uri="{9D8B030D-6E8A-4147-A177-3AD203B41FA5}">
                      <a16:colId xmlns:a16="http://schemas.microsoft.com/office/drawing/2014/main" val="2577533506"/>
                    </a:ext>
                  </a:extLst>
                </a:gridCol>
              </a:tblGrid>
              <a:tr h="731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619125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And Publication Details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57785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the project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extLst>
                  <a:ext uri="{0D108BD9-81ED-4DB2-BD59-A6C34878D82A}">
                    <a16:rowId xmlns:a16="http://schemas.microsoft.com/office/drawing/2014/main" val="1584946307"/>
                  </a:ext>
                </a:extLst>
              </a:tr>
              <a:tr h="267809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Kiran Singh and Rakhi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Wajgi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“Data analysis of sales data,”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 World Conference on Futuristic Trends in Research and Innovation for Social Welfare (Startup Conclave).,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INSPEC Accession Number: 16358540 ,DOI: 10.1109/STARTUP.2016.7583967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Identifying different customer segments based on purchasing behavior, demographics, and preferences.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analysis also revealed the most profitable,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Helped in understanding the basic workflow of handling sales data.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extLst>
                  <a:ext uri="{0D108BD9-81ED-4DB2-BD59-A6C34878D82A}">
                    <a16:rowId xmlns:a16="http://schemas.microsoft.com/office/drawing/2014/main" val="4169386534"/>
                  </a:ext>
                </a:extLst>
              </a:tr>
              <a:tr h="209023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Mandava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Geetha Bhargava, K.  Surya Kiran and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Duvvada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Rajeswara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Rao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“, Analysis and Design for Visualization of Educational Institution Database using Power BI Tool”,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Journal of Computer Science and Technology Software &amp; Data Engineering,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 1 Issue 4 Version 1.0 Year 2018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research emphasized the significance of data visualization in effectively communicating sales insights. By utilizing interactive dashboards, charts, graphs.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Helped in understanding the capabilities of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PowerBi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Data Analysis.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8" marR="14618" marT="0" marB="0"/>
                </a:tc>
                <a:extLst>
                  <a:ext uri="{0D108BD9-81ED-4DB2-BD59-A6C34878D82A}">
                    <a16:rowId xmlns:a16="http://schemas.microsoft.com/office/drawing/2014/main" val="27256438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41879C-9940-61D4-188B-8E6FFD5111C2}"/>
              </a:ext>
            </a:extLst>
          </p:cNvPr>
          <p:cNvSpPr txBox="1"/>
          <p:nvPr/>
        </p:nvSpPr>
        <p:spPr>
          <a:xfrm>
            <a:off x="4339525" y="-149943"/>
            <a:ext cx="4695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143622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4001BA-49FC-2025-D173-B4A2BA12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286C4D-B565-A617-FDAC-CAA449C8E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653022"/>
              </p:ext>
            </p:extLst>
          </p:nvPr>
        </p:nvGraphicFramePr>
        <p:xfrm>
          <a:off x="275096" y="0"/>
          <a:ext cx="11627602" cy="6261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5306">
                  <a:extLst>
                    <a:ext uri="{9D8B030D-6E8A-4147-A177-3AD203B41FA5}">
                      <a16:colId xmlns:a16="http://schemas.microsoft.com/office/drawing/2014/main" val="1000324673"/>
                    </a:ext>
                  </a:extLst>
                </a:gridCol>
                <a:gridCol w="1708700">
                  <a:extLst>
                    <a:ext uri="{9D8B030D-6E8A-4147-A177-3AD203B41FA5}">
                      <a16:colId xmlns:a16="http://schemas.microsoft.com/office/drawing/2014/main" val="2865667466"/>
                    </a:ext>
                  </a:extLst>
                </a:gridCol>
                <a:gridCol w="2940195">
                  <a:extLst>
                    <a:ext uri="{9D8B030D-6E8A-4147-A177-3AD203B41FA5}">
                      <a16:colId xmlns:a16="http://schemas.microsoft.com/office/drawing/2014/main" val="361672914"/>
                    </a:ext>
                  </a:extLst>
                </a:gridCol>
                <a:gridCol w="3461362">
                  <a:extLst>
                    <a:ext uri="{9D8B030D-6E8A-4147-A177-3AD203B41FA5}">
                      <a16:colId xmlns:a16="http://schemas.microsoft.com/office/drawing/2014/main" val="1684915255"/>
                    </a:ext>
                  </a:extLst>
                </a:gridCol>
                <a:gridCol w="2712039">
                  <a:extLst>
                    <a:ext uri="{9D8B030D-6E8A-4147-A177-3AD203B41FA5}">
                      <a16:colId xmlns:a16="http://schemas.microsoft.com/office/drawing/2014/main" val="2982311284"/>
                    </a:ext>
                  </a:extLst>
                </a:gridCol>
              </a:tblGrid>
              <a:tr h="3697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52" marR="342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Amrapali Bansal, A. K. Upadhyay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52" marR="34252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“Microsoft Power BI”, International Journal of Soft Computing and Engineering (IJSCE), ISSN: 2231-2307, Volume-7 Issue-3, July 2017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52" marR="34252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BI's capacity to conduct sophisticated calculations, implement data transformations, and derive meaningful insights from intricate datasets. These capabilities have facilitated the extraction of valuable information and fostered a more profound comprehension of the data at hand.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52" marR="34252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Helped in working with Power BI to analyze Global Store Sales.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also helped to know the capabilities of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PowerBi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the field of Data Science.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52" marR="34252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660744"/>
                  </a:ext>
                </a:extLst>
              </a:tr>
              <a:tr h="25637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52" marR="342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Matthew N. O. Sadiku, Adebowale E.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Shadare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 and  Cajetan M.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Akujuobi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52" marR="342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“Data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Visualiztion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”, International Journal of Engineering Research and Advanced Technology(IJERAT),2016 Volume.2 Issue.12, December </a:t>
                      </a:r>
                    </a:p>
                  </a:txBody>
                  <a:tcPr marL="34252" marR="342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Showing the use of visualizations significantly improved comprehension and facilitated effective decision-making by providing a clear and intuitive representation of complex data.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52" marR="342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showed the detailed use cases of data visualization and further showing multiple visualizing techniques.</a:t>
                      </a:r>
                    </a:p>
                  </a:txBody>
                  <a:tcPr marL="34252" marR="34252" marT="0" marB="0"/>
                </a:tc>
                <a:extLst>
                  <a:ext uri="{0D108BD9-81ED-4DB2-BD59-A6C34878D82A}">
                    <a16:rowId xmlns:a16="http://schemas.microsoft.com/office/drawing/2014/main" val="37771605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F54400-9889-1D64-A5E5-7A23697B8918}"/>
              </a:ext>
            </a:extLst>
          </p:cNvPr>
          <p:cNvSpPr txBox="1"/>
          <p:nvPr/>
        </p:nvSpPr>
        <p:spPr>
          <a:xfrm>
            <a:off x="5145437" y="6356350"/>
            <a:ext cx="3923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345604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553180-6AC4-64BD-6164-0B72738753EA}"/>
              </a:ext>
            </a:extLst>
          </p:cNvPr>
          <p:cNvSpPr txBox="1"/>
          <p:nvPr/>
        </p:nvSpPr>
        <p:spPr>
          <a:xfrm>
            <a:off x="4183411" y="584397"/>
            <a:ext cx="3578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6D839-302E-7F59-1370-59E2FCE6C614}"/>
              </a:ext>
            </a:extLst>
          </p:cNvPr>
          <p:cNvSpPr txBox="1"/>
          <p:nvPr/>
        </p:nvSpPr>
        <p:spPr>
          <a:xfrm>
            <a:off x="1127930" y="1513314"/>
            <a:ext cx="108330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and Complexity of Data-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of effectively managing and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analyzing large volumes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Actionable Insights-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and manual approaches are time-consuming, prone to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Geographical Variations-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Difficulty in understanding and analyzing these variations for developing targeted marketing strategies and optimizing sales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interactive visualization- 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of visualizing multiple year-based data in a single dashboard.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ED69EC-41F7-DB45-4471-D370A96F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5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4D789A-8803-EAEA-B4EA-7279290F6176}"/>
              </a:ext>
            </a:extLst>
          </p:cNvPr>
          <p:cNvSpPr txBox="1"/>
          <p:nvPr/>
        </p:nvSpPr>
        <p:spPr>
          <a:xfrm>
            <a:off x="4078464" y="488999"/>
            <a:ext cx="4770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8FA2D-211A-08F1-E2B1-7D0CC1CDD1A9}"/>
              </a:ext>
            </a:extLst>
          </p:cNvPr>
          <p:cNvSpPr txBox="1"/>
          <p:nvPr/>
        </p:nvSpPr>
        <p:spPr>
          <a:xfrm>
            <a:off x="1175169" y="1183077"/>
            <a:ext cx="956806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will be done to reduce the volume of data and make the data ready to be used for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DAX(Data Analysis Expressions) is a formula language that will be used to define custom calculations and measures for the purpose of performing in-depth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geographic analysis to comprehend regional variations in-store sales.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which is an interactive data visualization and data manipulation software will be used with a primary focus on business intelligence.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6B0F9-C9DB-8EE8-33DC-E0C07A19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4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95C4B5-1CAB-1451-DD3F-1D12ED78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048DF-5A11-2E6D-87C5-474DA35DD337}"/>
              </a:ext>
            </a:extLst>
          </p:cNvPr>
          <p:cNvSpPr txBox="1"/>
          <p:nvPr/>
        </p:nvSpPr>
        <p:spPr>
          <a:xfrm>
            <a:off x="4417018" y="278969"/>
            <a:ext cx="4664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1478D-D39F-85BC-D069-5E954CEF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43" y="1321231"/>
            <a:ext cx="10329857" cy="42155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5D998D-B224-5C54-C626-B797007CF76C}"/>
              </a:ext>
            </a:extLst>
          </p:cNvPr>
          <p:cNvSpPr txBox="1"/>
          <p:nvPr/>
        </p:nvSpPr>
        <p:spPr>
          <a:xfrm>
            <a:off x="4308529" y="5852947"/>
            <a:ext cx="6478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for Data Analysis </a:t>
            </a:r>
          </a:p>
        </p:txBody>
      </p:sp>
    </p:spTree>
    <p:extLst>
      <p:ext uri="{BB962C8B-B14F-4D97-AF65-F5344CB8AC3E}">
        <p14:creationId xmlns:p14="http://schemas.microsoft.com/office/powerpoint/2010/main" val="40691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1F54E8-3B90-5730-1ADD-15C682A6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25140-DCD9-920B-94E9-40D52ECB0C4F}"/>
              </a:ext>
            </a:extLst>
          </p:cNvPr>
          <p:cNvSpPr txBox="1"/>
          <p:nvPr/>
        </p:nvSpPr>
        <p:spPr>
          <a:xfrm>
            <a:off x="4912963" y="216910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A3823-EC9C-9B65-CD90-2CD1C67DD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02" y="941235"/>
            <a:ext cx="10144932" cy="51360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41F1B1-75E2-2A41-5C74-9FEB864AE8F8}"/>
              </a:ext>
            </a:extLst>
          </p:cNvPr>
          <p:cNvSpPr txBox="1"/>
          <p:nvPr/>
        </p:nvSpPr>
        <p:spPr>
          <a:xfrm>
            <a:off x="3192651" y="6169580"/>
            <a:ext cx="667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for Data analysis and visualization of Global Store Sales</a:t>
            </a:r>
          </a:p>
        </p:txBody>
      </p:sp>
    </p:spTree>
    <p:extLst>
      <p:ext uri="{BB962C8B-B14F-4D97-AF65-F5344CB8AC3E}">
        <p14:creationId xmlns:p14="http://schemas.microsoft.com/office/powerpoint/2010/main" val="52959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92ADF6-5C2B-3E26-5BEC-290DA1E0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D8CCD-3C9F-BD0E-692C-101DB1AD8CCC}"/>
              </a:ext>
            </a:extLst>
          </p:cNvPr>
          <p:cNvSpPr txBox="1"/>
          <p:nvPr/>
        </p:nvSpPr>
        <p:spPr>
          <a:xfrm>
            <a:off x="3704095" y="263471"/>
            <a:ext cx="4906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4AF39-E0F2-F31F-19EE-564CDEE46FD7}"/>
              </a:ext>
            </a:extLst>
          </p:cNvPr>
          <p:cNvSpPr txBox="1"/>
          <p:nvPr/>
        </p:nvSpPr>
        <p:spPr>
          <a:xfrm>
            <a:off x="838200" y="555858"/>
            <a:ext cx="1052334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Start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Identify and gather relevant data from various sources, such as sales databases, customer databases, and product databases.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Apply data cleaning techniques to handle missing values, remove duplicates, and address inconsistencies.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-Implement features such as filtering, drill-down, and interactive elements to enhance the user experience.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Define calculated columns using Dax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Deploy the data analysis and visualization solution in a suitable environment, ensuring accessibility for authorized users.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669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C19288-7608-5BDD-CF75-F2BD7013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2241F-2589-9F4F-DB38-0B40DB1B8B3D}"/>
              </a:ext>
            </a:extLst>
          </p:cNvPr>
          <p:cNvSpPr txBox="1"/>
          <p:nvPr/>
        </p:nvSpPr>
        <p:spPr>
          <a:xfrm>
            <a:off x="676760" y="790413"/>
            <a:ext cx="10507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Step 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Perform user acceptance testing to gather feedback and make necessary improvements.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Step 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Continuous Monitoring and Maintenance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Step 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Stop</a:t>
            </a:r>
          </a:p>
        </p:txBody>
      </p:sp>
    </p:spTree>
    <p:extLst>
      <p:ext uri="{BB962C8B-B14F-4D97-AF65-F5344CB8AC3E}">
        <p14:creationId xmlns:p14="http://schemas.microsoft.com/office/powerpoint/2010/main" val="2148474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26055D-A14C-A5CB-9C18-FF006D2F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20929-34BF-538E-BADF-213E2F325478}"/>
              </a:ext>
            </a:extLst>
          </p:cNvPr>
          <p:cNvSpPr txBox="1"/>
          <p:nvPr/>
        </p:nvSpPr>
        <p:spPr>
          <a:xfrm>
            <a:off x="5021451" y="0"/>
            <a:ext cx="4788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03C7B-5B30-0D13-994F-0C3AAAD4A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73" y="580075"/>
            <a:ext cx="11530740" cy="5776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85F840-4585-5E5B-CE15-7376A0282232}"/>
              </a:ext>
            </a:extLst>
          </p:cNvPr>
          <p:cNvSpPr txBox="1"/>
          <p:nvPr/>
        </p:nvSpPr>
        <p:spPr>
          <a:xfrm>
            <a:off x="3048646" y="6387257"/>
            <a:ext cx="657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Visualization of Global Store Sales</a:t>
            </a:r>
          </a:p>
        </p:txBody>
      </p:sp>
    </p:spTree>
    <p:extLst>
      <p:ext uri="{BB962C8B-B14F-4D97-AF65-F5344CB8AC3E}">
        <p14:creationId xmlns:p14="http://schemas.microsoft.com/office/powerpoint/2010/main" val="3279258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5B9F5B-3C95-34C0-C9BF-DBDE54F0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2A176-CA38-6DA9-A7D5-7F4AD28EC110}"/>
              </a:ext>
            </a:extLst>
          </p:cNvPr>
          <p:cNvSpPr txBox="1"/>
          <p:nvPr/>
        </p:nvSpPr>
        <p:spPr>
          <a:xfrm>
            <a:off x="3383796" y="247974"/>
            <a:ext cx="5424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05A1A-B098-3C2C-EFB2-9628C246EFD5}"/>
              </a:ext>
            </a:extLst>
          </p:cNvPr>
          <p:cNvSpPr txBox="1"/>
          <p:nvPr/>
        </p:nvSpPr>
        <p:spPr>
          <a:xfrm>
            <a:off x="480447" y="1255362"/>
            <a:ext cx="64008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Expertise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Processing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930B2-3AD3-AEBD-EA7C-1258515CFC91}"/>
              </a:ext>
            </a:extLst>
          </p:cNvPr>
          <p:cNvSpPr txBox="1"/>
          <p:nvPr/>
        </p:nvSpPr>
        <p:spPr>
          <a:xfrm>
            <a:off x="480447" y="3880622"/>
            <a:ext cx="640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Analysis</a:t>
            </a:r>
          </a:p>
        </p:txBody>
      </p:sp>
    </p:spTree>
    <p:extLst>
      <p:ext uri="{BB962C8B-B14F-4D97-AF65-F5344CB8AC3E}">
        <p14:creationId xmlns:p14="http://schemas.microsoft.com/office/powerpoint/2010/main" val="736523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508EF-B844-90C4-2684-0A28521E8860}"/>
              </a:ext>
            </a:extLst>
          </p:cNvPr>
          <p:cNvSpPr txBox="1"/>
          <p:nvPr/>
        </p:nvSpPr>
        <p:spPr>
          <a:xfrm>
            <a:off x="4577616" y="136525"/>
            <a:ext cx="4996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57B0CD-E2AD-E38A-FBCB-07DD9158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1E8B2-F0D2-1DFB-670A-7F63DAB7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37" y="824874"/>
            <a:ext cx="10321763" cy="4878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32210-D114-158E-59C0-2F8B8AB0C897}"/>
              </a:ext>
            </a:extLst>
          </p:cNvPr>
          <p:cNvSpPr txBox="1"/>
          <p:nvPr/>
        </p:nvSpPr>
        <p:spPr>
          <a:xfrm>
            <a:off x="5065131" y="6367059"/>
            <a:ext cx="4510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 of the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27B764-E004-C15F-B7E7-D7FA5403C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044" y="5705764"/>
            <a:ext cx="4311434" cy="66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54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56A708-1476-2FE4-986B-8908D5A5A3C8}"/>
              </a:ext>
            </a:extLst>
          </p:cNvPr>
          <p:cNvSpPr txBox="1"/>
          <p:nvPr/>
        </p:nvSpPr>
        <p:spPr>
          <a:xfrm>
            <a:off x="4846982" y="136525"/>
            <a:ext cx="3763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11D9E-C17C-C49B-4688-D55E4BD704A4}"/>
              </a:ext>
            </a:extLst>
          </p:cNvPr>
          <p:cNvSpPr txBox="1"/>
          <p:nvPr/>
        </p:nvSpPr>
        <p:spPr>
          <a:xfrm>
            <a:off x="490330" y="721300"/>
            <a:ext cx="11211339" cy="669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8" lvl="1" indent="7938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Kiran Singh and Rakhi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Wajgi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“Data analysis and visualization of sales data,”  </a:t>
            </a:r>
          </a:p>
          <a:p>
            <a:pPr marL="914400" lvl="1" algn="just">
              <a:lnSpc>
                <a:spcPct val="150000"/>
              </a:lnSpc>
              <a:tabLst>
                <a:tab pos="812165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2016 World Conference on Futuristic Trends in Research and Innovation for </a:t>
            </a:r>
          </a:p>
          <a:p>
            <a:pPr marL="914400" lvl="1" algn="just" defTabSz="985838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Social Welfare (Startup Conclave)., IN-SPEC Accession Number: 16358540, 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DOI: 10.1109/STARTUP.2016.7583967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914400" lvl="1" algn="just" defTabSz="965200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By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Mandava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Geetha Bhargava, K. Tara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Surya Kiran, and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Duvvada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Rajeswara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Rao, Analysis and Design of Visualization of Educational Institution Database 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using Power BI Tool, Global Journal of Computer Science and Technology 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Software &amp; Data Engineering, Volume 1 Issue 4 Version 1.0 Year 2018, Online 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ISSN: 0975-4172 &amp; Print ISSN: 0975-4350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Amrapali Bansal, A. K. Upadhyay, “Microsoft Power BI”, International Journal of 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Soft Computing and Engineering (IJSCE), ISSN: 2231-2307, Volume-7 Issue-3, </a:t>
            </a:r>
          </a:p>
          <a:p>
            <a:pPr marL="914400" lvl="1"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July 2017</a:t>
            </a: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AC216-8781-5087-F6C8-403D6173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85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EA7486-1A5C-31E2-9B04-DFB10D12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D4E2-E95B-43A5-8601-9ECAED672CBA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A55F6-5BB6-67AE-E087-F82A51FDBB5A}"/>
              </a:ext>
            </a:extLst>
          </p:cNvPr>
          <p:cNvSpPr txBox="1"/>
          <p:nvPr/>
        </p:nvSpPr>
        <p:spPr>
          <a:xfrm>
            <a:off x="398206" y="235974"/>
            <a:ext cx="11208775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[4] Matthew N. O. Sadiku, Adebowale E.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Shadare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Sarhan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M. Musa and  Cajetan M. 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Akujuobi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“DATA VISUALIZATION”, International Journal of Engineering Re-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  search and Advanced Technology(IJERAT), Volume.2 Issue.12, December 2016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[5] Michael Diamond and Angela Mattia, “Data visualization: an exploratory study 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  into the software tools used by businesses”, Journal of Instructional Pedagogies, 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  Volume 18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[6] Vinh T Nguyen,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Kwanghee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Jung &amp; Vibhuti Gupta, “Examining data visualization  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  pitfalls in scientific publications”,  Visual Computing for Industry, Biomedicine, 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  and Art, Volume 4 Article number: 27 (2021), 29 October 2021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[7] Sun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Binli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”Research on data-preprocessing for construction of university 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  information systems”,  IEEE Conference.  Computer  Application and  System </a:t>
            </a:r>
          </a:p>
          <a:p>
            <a:pPr marL="914400" lvl="1">
              <a:lnSpc>
                <a:spcPct val="150000"/>
              </a:lnSpc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   Modeling  (ICCASM),  2010  International  Conference Volume:1. 22-24 Oct. 2010</a:t>
            </a:r>
          </a:p>
        </p:txBody>
      </p:sp>
    </p:spTree>
    <p:extLst>
      <p:ext uri="{BB962C8B-B14F-4D97-AF65-F5344CB8AC3E}">
        <p14:creationId xmlns:p14="http://schemas.microsoft.com/office/powerpoint/2010/main" val="424687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E9BE9379B93642AE1F8556CCBD96AC" ma:contentTypeVersion="7" ma:contentTypeDescription="Create a new document." ma:contentTypeScope="" ma:versionID="c4b4c0f498b3a10248ba3bd7c7408e5d">
  <xsd:schema xmlns:xsd="http://www.w3.org/2001/XMLSchema" xmlns:xs="http://www.w3.org/2001/XMLSchema" xmlns:p="http://schemas.microsoft.com/office/2006/metadata/properties" xmlns:ns3="2077fbf1-ed77-44cc-9d88-d479a2e75d77" xmlns:ns4="5710c147-eeb0-477e-931e-f7fc960040f8" targetNamespace="http://schemas.microsoft.com/office/2006/metadata/properties" ma:root="true" ma:fieldsID="9f3a6e9f7dec2dff356c15b613a252b9" ns3:_="" ns4:_="">
    <xsd:import namespace="2077fbf1-ed77-44cc-9d88-d479a2e75d77"/>
    <xsd:import namespace="5710c147-eeb0-477e-931e-f7fc960040f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7fbf1-ed77-44cc-9d88-d479a2e75d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0c147-eeb0-477e-931e-f7fc96004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17F413-6CB4-48ED-A82F-F768EDC1EA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77fbf1-ed77-44cc-9d88-d479a2e75d77"/>
    <ds:schemaRef ds:uri="5710c147-eeb0-477e-931e-f7fc960040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FC12FA-473B-4BDB-B964-DCBED3421B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4DCD0A-D35D-4C24-94CC-41002320595D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5710c147-eeb0-477e-931e-f7fc960040f8"/>
    <ds:schemaRef ds:uri="2077fbf1-ed77-44cc-9d88-d479a2e75d77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15584</TotalTime>
  <Words>1318</Words>
  <Application>Microsoft Office PowerPoint</Application>
  <PresentationFormat>Widescreen</PresentationFormat>
  <Paragraphs>201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OpenSans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AKSHAY</dc:creator>
  <cp:lastModifiedBy>AKSHAY SARKAR</cp:lastModifiedBy>
  <cp:revision>3</cp:revision>
  <dcterms:created xsi:type="dcterms:W3CDTF">2022-10-13T03:44:12Z</dcterms:created>
  <dcterms:modified xsi:type="dcterms:W3CDTF">2023-07-04T04:33:58Z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0x01010040E9BE9379B93642AE1F8556CCBD96AC</vt:lpwstr>
  </property>
</Properties>
</file>